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6012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Gap2Idea: An Idea Mining Platform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 Research Acceleration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Bachelor Thesis Defense by: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Yazan Alnakri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Under the supervision of [Supervisor name]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Agenda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2920" y="1280160"/>
            <a:ext cx="8229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Objective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Related Work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Pipeline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●  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Extraction with provenance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●  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Theme mining + Bridge score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●  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Three idea-generation modes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●  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Multi-agent quality layer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●  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Paper drafter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Evaluation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2920" y="1280160"/>
            <a:ext cx="8229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More than </a:t>
            </a:r>
            <a:pPr indent="0" marL="0">
              <a:buNone/>
            </a:pPr>
            <a:r>
              <a:rPr lang="en-US" sz="17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100,000 ML preprints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are uploaded to arXiv every year, and the rate keeps growing.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individual researcher can read this volume — promising directions are simply missed.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most valuable signal of what remains undone — the </a:t>
            </a:r>
            <a:pPr indent="0" marL="0">
              <a:buNone/>
            </a:pPr>
            <a:r>
              <a:rPr lang="en-US" sz="17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Limitations</a:t>
            </a:r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and </a:t>
            </a:r>
            <a:pPr indent="0" marL="0">
              <a:buNone/>
            </a:pPr>
            <a:r>
              <a:rPr lang="en-US" sz="17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Work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sections that authors write — is scattered across thousands of PDFs.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There is currently </a:t>
            </a:r>
            <a:pPr indent="0" marL="0">
              <a:buNone/>
            </a:pPr>
            <a:r>
              <a:rPr lang="en-US" sz="17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production tool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that harvests these sections at scale and turns them into actionable research ideas.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Introduction: the buried signal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2920" y="128016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Authors of a paper know their own work better than any external observer.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Their </a:t>
            </a:r>
            <a:pPr indent="0" marL="0">
              <a:buNone/>
            </a:pPr>
            <a:r>
              <a:rPr lang="en-US" sz="16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Limitations / Future Work / Open Problems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sections are an authoritative annotation of </a:t>
            </a:r>
            <a:pPr indent="0" marL="0">
              <a:buNone/>
            </a:pPr>
            <a:r>
              <a:rPr lang="en-US" sz="16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"what is still missing"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Yet this signal lives </a:t>
            </a:r>
            <a:pPr indent="0" marL="0">
              <a:buNone/>
            </a:pPr>
            <a:r>
              <a:rPr lang="en-US" sz="16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 the end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of each PDF — rarely indexed, rarely searched, never aggregated.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Consider a graduate student starting a thesis on graph neural networks: hundreds of future-work paragraphs hint at extensions — </a:t>
            </a:r>
            <a:pPr indent="0" marL="0">
              <a:buNone/>
            </a:pPr>
            <a:r>
              <a:rPr lang="en-US" sz="16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dynamic edges, distribution shift, multimodal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but they are not collectable today.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Objective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Design, implement, and evaluate an end-to-end pipeline that converts a corpus of academic papers into </a:t>
            </a:r>
            <a:pPr algn="ctr" indent="0" marL="0">
              <a:buNone/>
            </a:pPr>
            <a:r>
              <a:rPr lang="en-US" sz="22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clustered research gaps</a:t>
            </a:r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pPr algn="ctr" indent="0" marL="0">
              <a:buNone/>
            </a:pPr>
            <a:r>
              <a:rPr lang="en-US" sz="22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multi-mode idea proposals</a:t>
            </a:r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and conference-paper drafts — with </a:t>
            </a:r>
            <a:pPr algn="ctr" indent="0" marL="0">
              <a:buNone/>
            </a:pPr>
            <a:r>
              <a:rPr lang="en-US" sz="22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artefact traceable</a:t>
            </a:r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to the verbatim source text that motivated it.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Related Work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2920" y="1280160"/>
            <a:ext cx="8229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buNone/>
            </a:pPr>
            <a:r>
              <a:rPr lang="en-US" sz="16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SciMuse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couples knowledge graphs with LLMs to suggest broad research directions.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buNone/>
            </a:pPr>
            <a:r>
              <a:rPr lang="en-US" sz="16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CHIMERA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mines recombination patterns from paper abstracts.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buNone/>
            </a:pPr>
            <a:r>
              <a:rPr lang="en-US" sz="16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LiveIdeaBench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evaluates open-ended LLM creativity on idea-generation prompts.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buNone/>
            </a:pPr>
            <a:r>
              <a:rPr lang="en-US" sz="16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Ramón Llull Thinking Machine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generates ideas along predefined conceptual axes.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None of them </a:t>
            </a:r>
            <a:pPr indent="0" marL="0">
              <a:buNone/>
            </a:pPr>
            <a:r>
              <a:rPr lang="en-US" sz="16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extract author-acknowledged gaps verbatim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pPr indent="0" marL="0">
              <a:buNone/>
            </a:pPr>
            <a:r>
              <a:rPr lang="en-US" sz="16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ground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generated ideas in those gaps, or </a:t>
            </a:r>
            <a:pPr indent="0" marL="0">
              <a:buNone/>
            </a:pPr>
            <a:r>
              <a:rPr lang="en-US" sz="16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expose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the full process to user inspection.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Pipeline</a:t>
            </a:r>
            <a:endParaRPr lang="en-US" sz="3600" dirty="0"/>
          </a:p>
        </p:txBody>
      </p:sp>
      <p:pic>
        <p:nvPicPr>
          <p:cNvPr id="3" name="Image 0" descr="C:/Users/yazan/Downloads/thesis_methodology/figs_png/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1097280"/>
            <a:ext cx="2353901" cy="3566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128016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buNone/>
            </a:pPr>
            <a:r>
              <a:rPr lang="en-US" sz="16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Stage A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Acquisition and extraction.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buNone/>
            </a:pPr>
            <a:r>
              <a:rPr lang="en-US" sz="16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Stage B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Theme mining (cluster + label).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buNone/>
            </a:pPr>
            <a:r>
              <a:rPr lang="en-US" sz="16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Stage C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Idea generation in three modes.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buNone/>
            </a:pPr>
            <a:r>
              <a:rPr lang="en-US" sz="16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Stage D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Multi-agent evaluation.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buNone/>
            </a:pPr>
            <a:r>
              <a:rPr lang="en-US" sz="16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Stage E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Export and paper drafter.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02920" y="4434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artefact stays traceable to the verbatim source text.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Extraction with provenance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2920" y="128016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buNone/>
            </a:pPr>
            <a:r>
              <a:rPr lang="en-US" sz="14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PDF → text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via PyMuPDF; every page read (limitations sometimes appear mid-paper).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buNone/>
            </a:pPr>
            <a:r>
              <a:rPr lang="en-US" sz="14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Three-strategy section finder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● 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Structured headings — numbered, Roman, or all-caps.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● 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Keyword-window fallback — "future directions", "open problems"…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● 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Tail-window fallback — last 900 tokens before References.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buNone/>
            </a:pPr>
            <a:r>
              <a:rPr lang="en-US" sz="14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Strict JSON-schema LLM call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per paper: at most two gap items, each with </a:t>
            </a:r>
            <a:pPr indent="0" marL="0">
              <a:buNone/>
            </a:pPr>
            <a:r>
              <a:rPr lang="en-US" sz="14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verbatim sentence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pPr indent="0" marL="0">
              <a:buNone/>
            </a:pPr>
            <a:r>
              <a:rPr lang="en-US" sz="14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verbatim paragraph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pPr indent="0" marL="0">
              <a:buNone/>
            </a:pPr>
            <a:r>
              <a:rPr lang="en-US" sz="14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type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∈ {limitation, future_work, open_problem}, and a </a:t>
            </a:r>
            <a:pPr indent="0" marL="0">
              <a:buNone/>
            </a:pPr>
            <a:r>
              <a:rPr lang="en-US" sz="14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self-reported confidence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Post-hoc filters: confidence ≥ 0.5, sentence length ≥ 20 chars, de-duplicate on (paper_id, sentence).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Theme mining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2920" y="1280160"/>
            <a:ext cx="8229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Embed every gap sentence with </a:t>
            </a:r>
            <a:pPr indent="0" marL="0">
              <a:buNone/>
            </a:pPr>
            <a:r>
              <a:rPr lang="en-US" sz="14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all-MiniLM-L6-v2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(384-d, L2-normalised).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Clusterer adapts to corpus size: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● 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K-Means with </a:t>
            </a:r>
            <a:pPr indent="0" marL="0">
              <a:buNone/>
            </a:pPr>
            <a:r>
              <a:rPr lang="en-US" sz="14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silhouette-swept k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when |F| &lt; 150.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●  </a:t>
            </a:r>
            <a:pPr indent="0" marL="0">
              <a:buNone/>
            </a:pPr>
            <a:r>
              <a:rPr lang="en-US" sz="14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HDBSCAN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for larger corpora, noise cluster tolerated.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Each cluster receives </a:t>
            </a:r>
            <a:pPr indent="0" marL="0">
              <a:buNone/>
            </a:pPr>
            <a:r>
              <a:rPr lang="en-US" sz="14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two labels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●  </a:t>
            </a:r>
            <a:pPr indent="0" marL="0">
              <a:buNone/>
            </a:pPr>
            <a:r>
              <a:rPr lang="en-US" sz="14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TF-IDF keywords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deterministic, robust.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●  </a:t>
            </a:r>
            <a:pPr indent="0" marL="0">
              <a:buNone/>
            </a:pPr>
            <a:r>
              <a:rPr lang="en-US" sz="14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LLM noun-phrase theme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human-readable.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Both kept, because keywords are robust but stilted, and LLM labels are readable but stochastic.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Bridge score</a:t>
            </a:r>
            <a:endParaRPr lang="en-US" sz="3600" dirty="0"/>
          </a:p>
        </p:txBody>
      </p:sp>
      <p:pic>
        <p:nvPicPr>
          <p:cNvPr id="3" name="Image 0" descr="C:/Users/yazan/Downloads/thesis_methodology/figs_png/bridge_sco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143000"/>
            <a:ext cx="8138160" cy="1828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30632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bridge(A, B)  =  peak(cos(μA, μB), 0.45)  ·  (1 − J(PA, PB))  ·  (0.5 + 0.5·τ(A, B))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02920" y="3520440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buNone/>
            </a:pPr>
            <a:r>
              <a:rPr lang="en-US" sz="13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Peak at moderate similarity (0.45)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identical themes restate; distant themes do not combine.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buNone/>
            </a:pPr>
            <a:r>
              <a:rPr lang="en-US" sz="13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Penalise paper overlap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pairs drawn from the same sources go to 0.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buNone/>
            </a:pPr>
            <a:r>
              <a:rPr lang="en-US" sz="13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Reward type complementarity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limitations × future_work is more interesting than two limitations.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Idea generation — three modes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2920" y="128016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buNone/>
            </a:pPr>
            <a:r>
              <a:rPr lang="en-US" sz="15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Within-theme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for each cluster, synthesise one idea from its recurring evidence.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buNone/>
            </a:pPr>
            <a:r>
              <a:rPr lang="en-US" sz="15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Bridge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combine two related-but-distinct themes selected by the bridge score.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buNone/>
            </a:pPr>
            <a:r>
              <a:rPr lang="en-US" sz="15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Method-gap</a:t>
            </a:r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retrieve method-claim sentences from a separately-mined library, propose their application to unmet gaps (explicit </a:t>
            </a:r>
            <a:pPr indent="0" marL="0">
              <a:buNone/>
            </a:pPr>
            <a:r>
              <a:rPr lang="en-US" sz="15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X-solves-Y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semantics).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 three share </a:t>
            </a:r>
            <a:pPr indent="0" marL="0">
              <a:buNone/>
            </a:pPr>
            <a:r>
              <a:rPr lang="en-US" sz="15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schema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title, research question, method sketch, evaluation plan (named metric + baseline), evidence used, confidence.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Post-hoc </a:t>
            </a:r>
            <a:pPr indent="0" marL="0">
              <a:buNone/>
            </a:pPr>
            <a:r>
              <a:rPr lang="en-US" sz="15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evidence-overlap filter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strips hallucinated paper IDs from the LLM's claimed evidence list.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Multi-agent quality layer</a:t>
            </a:r>
            <a:endParaRPr lang="en-US" sz="3600" dirty="0"/>
          </a:p>
        </p:txBody>
      </p:sp>
      <p:pic>
        <p:nvPicPr>
          <p:cNvPr id="3" name="Image 0" descr="C:/Users/yazan/Downloads/thesis_methodology/figs_png/orchestrated_m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097280"/>
            <a:ext cx="2346158" cy="3566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1280160"/>
            <a:ext cx="4937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single LLM call cannot inspect its own output against external facts.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buNone/>
            </a:pPr>
            <a:r>
              <a:rPr lang="en-US" sz="13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Critic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issues live tool calls for </a:t>
            </a:r>
            <a:pPr indent="0" marL="0">
              <a:buNone/>
            </a:pPr>
            <a:r>
              <a:rPr lang="en-US" sz="13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novelty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(Semantic Scholar) and </a:t>
            </a:r>
            <a:pPr indent="0" marL="0">
              <a:buNone/>
            </a:pPr>
            <a:r>
              <a:rPr lang="en-US" sz="13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evidence overlap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proposes targeted revisions.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buNone/>
            </a:pPr>
            <a:r>
              <a:rPr lang="en-US" sz="13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Revisor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re-renders the idea addressing each issue; bounded loop (typically 2 iterations).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buNone/>
            </a:pPr>
            <a:r>
              <a:rPr lang="en-US" sz="13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Judge panel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independent models from </a:t>
            </a:r>
            <a:pPr indent="0" marL="0">
              <a:buNone/>
            </a:pPr>
            <a:r>
              <a:rPr lang="en-US" sz="13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three providers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(Anthropic, OpenAI, Google) score on a 4-axis rubric.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Cross-provider </a:t>
            </a:r>
            <a:pPr indent="0" marL="0">
              <a:buNone/>
            </a:pPr>
            <a:r>
              <a:rPr lang="en-US" sz="13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agreement statistic α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surfaces consistency as an interpretable signal.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Critic diagnostics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2920" y="1280160"/>
            <a:ext cx="8229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buNone/>
            </a:pPr>
            <a:r>
              <a:rPr lang="en-US" sz="14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Novelty score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ν = 1 − maxₕ cos(eᵢdₑₐ, eₐbₛₜrₐcₜ)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● 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Embed (title + research question). Search Semantic Scholar. Cosine against top-k abstracts.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● 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Hard rule: </a:t>
            </a:r>
            <a:pPr indent="0" marL="0">
              <a:buNone/>
            </a:pPr>
            <a:r>
              <a:rPr lang="en-US" sz="14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ν &lt; 0.4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→ critic must request revision.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buNone/>
            </a:pPr>
            <a:r>
              <a:rPr lang="en-US" sz="14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Evidence overlap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|used ∩ fed| / |used|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● 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Deterministic, no LLM call. Compare each (paper_id, gap_sentence) against the fed evidence.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● 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Hard rule: </a:t>
            </a:r>
            <a:pPr indent="0" marL="0">
              <a:buNone/>
            </a:pPr>
            <a:r>
              <a:rPr lang="en-US" sz="14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overlap &lt; 0.8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→ critic must request revision.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Critic and synthesiser default to </a:t>
            </a:r>
            <a:pPr indent="0" marL="0">
              <a:buNone/>
            </a:pPr>
            <a:r>
              <a:rPr lang="en-US" sz="14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 providers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(Claude critic, GPT synthesiser) to mitigate self-evaluation bias.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Judge panel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2920" y="1280160"/>
            <a:ext cx="8229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Three judges, three providers: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●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Anthropic Claude Sonnet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●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OpenAI GPT-4o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●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Google Gemini Flash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Each judge scores on a </a:t>
            </a:r>
            <a:pPr indent="0" marL="0">
              <a:buNone/>
            </a:pPr>
            <a:r>
              <a:rPr lang="en-US" sz="13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1–5 Likert rubric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●  </a:t>
            </a:r>
            <a:pPr indent="0" marL="0">
              <a:buNone/>
            </a:pPr>
            <a:r>
              <a:rPr lang="en-US" sz="13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Novelty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beyond rebranding existing work?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●  </a:t>
            </a:r>
            <a:pPr indent="0" marL="0">
              <a:buNone/>
            </a:pPr>
            <a:r>
              <a:rPr lang="en-US" sz="13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Specificity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method, dataset, metric, baseline named concretely?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●  </a:t>
            </a:r>
            <a:pPr indent="0" marL="0">
              <a:buNone/>
            </a:pPr>
            <a:r>
              <a:rPr lang="en-US" sz="13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Feasibility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could a graduate student start in two weeks?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●  </a:t>
            </a:r>
            <a:pPr indent="0" marL="0">
              <a:buNone/>
            </a:pPr>
            <a:r>
              <a:rPr lang="en-US" sz="13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Evidence grounding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does the idea trace back to the fed gaps?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buNone/>
            </a:pPr>
            <a:r>
              <a:rPr lang="en-US" sz="13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Inter-judge agreement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α = 1 − σ̄ / 4   (σ̄ = mean per-axis std-dev). α = 1 ⇒ unanimous.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Paper drafter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2920" y="1280160"/>
            <a:ext cx="8229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Any saved idea can be expanded by </a:t>
            </a:r>
            <a:pPr indent="0" marL="0">
              <a:buNone/>
            </a:pPr>
            <a:r>
              <a:rPr lang="en-US" sz="13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further LLM call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into a full paper plan.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 conforms to </a:t>
            </a:r>
            <a:pPr indent="0" marL="0">
              <a:buNone/>
            </a:pPr>
            <a:r>
              <a:rPr lang="en-US" sz="13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PAPER_DRAFT_SCHEMA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abstract, introduction, related work, four-subsection method, experimental setup, expected results (qualitative), discussion, conclusion.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buNone/>
            </a:pPr>
            <a:r>
              <a:rPr lang="en-US" sz="13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Three protections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keep the draft honest: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● 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Prompt forbids fabricated numbers; expected_results is marked as a </a:t>
            </a:r>
            <a:pPr indent="0" marL="0">
              <a:buNone/>
            </a:pPr>
            <a:r>
              <a:rPr lang="en-US" sz="13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plan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not measurement.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●  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Post-hoc filter strips any related-work entry whose paper_id was not in the input evidence.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● 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LaTeX template renders </a:t>
            </a:r>
            <a:pPr indent="0" marL="0">
              <a:buNone/>
            </a:pPr>
            <a:r>
              <a:rPr lang="en-US" sz="13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"Human work required"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as a visually distinct callout box.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Rendering: three bundled templates (minimal / standard / IEEE) or a user-supplied custom template.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Extraction quality</a:t>
            </a:r>
            <a:endParaRPr lang="en-US" sz="3600" dirty="0"/>
          </a:p>
        </p:txBody>
      </p:sp>
      <p:pic>
        <p:nvPicPr>
          <p:cNvPr id="3" name="Image 0" descr="C:/Users/yazan/Downloads/thesis_methodology/figs/bench/ablation_stage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0" y="1097280"/>
            <a:ext cx="4206240" cy="3291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1280160"/>
            <a:ext cx="4114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Bench: stratified sample of </a:t>
            </a:r>
            <a:pPr indent="0" marL="0">
              <a:buNone/>
            </a:pPr>
            <a:r>
              <a:rPr lang="en-US" sz="13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 = 100 papers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from unarXive 2023 with labelled section spans.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buNone/>
            </a:pPr>
            <a:r>
              <a:rPr lang="en-US" sz="13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v2a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(flat-text regex) → </a:t>
            </a:r>
            <a:pPr indent="0" marL="0">
              <a:buNone/>
            </a:pPr>
            <a:r>
              <a:rPr lang="en-US" sz="13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v2b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(PDF style-aware extractor):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● 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ROUGE-1 F1: </a:t>
            </a:r>
            <a:pPr indent="0" marL="0">
              <a:buNone/>
            </a:pPr>
            <a:r>
              <a:rPr lang="en-US" sz="13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0.322 → 0.506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 +57% 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●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ROUGE-2: +97%   ·   ROUGE-L: +85%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buNone/>
            </a:pPr>
            <a:r>
              <a:rPr lang="en-US" sz="13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Same Stage-2 LLM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both runs — the lift comes from heading recovery only.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Clustering quality</a:t>
            </a:r>
            <a:endParaRPr lang="en-US" sz="3600" dirty="0"/>
          </a:p>
        </p:txBody>
      </p:sp>
      <p:pic>
        <p:nvPicPr>
          <p:cNvPr id="3" name="Image 0" descr="C:/Users/yazan/Downloads/thesis_methodology/figs/clustering_bench/metric_heatmap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0" y="1097280"/>
            <a:ext cx="4846320" cy="3383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1280160"/>
            <a:ext cx="3474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buNone/>
            </a:pPr>
            <a:r>
              <a:rPr lang="en-US" sz="12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 clusterers × 4 encoders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on 161 verbatim gap sentences from 98 papers.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Five intrinsic metrics: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● 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Silhouette ↑   Davies-Bouldin ↓   Calinski-Harabasz ↑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●  </a:t>
            </a:r>
            <a:pPr indent="0" marL="0">
              <a:buNone/>
            </a:pPr>
            <a:r>
              <a:rPr lang="en-US" sz="12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NPMI ↑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semantic coherence proxy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●  </a:t>
            </a:r>
            <a:pPr indent="0" marL="0">
              <a:buNone/>
            </a:pPr>
            <a:r>
              <a:rPr lang="en-US" sz="12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Bootstrap ARI ↑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stability under 80% resamples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NPMI matters because the downstream consumer cares about </a:t>
            </a:r>
            <a:pPr indent="0" marL="0">
              <a:buNone/>
            </a:pPr>
            <a:r>
              <a:rPr lang="en-US" sz="12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theme coherence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not geometry alone.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Idea quality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2920" y="1280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Three-judge panel scores per axis (1–5 Likert).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32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Numbers below to be filled from idea_eval.tsv before the defence.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20240"/>
          <a:ext cx="81381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60120"/>
                <a:gridCol w="1234440"/>
                <a:gridCol w="1097280"/>
                <a:gridCol w="1188720"/>
                <a:gridCol w="1097280"/>
                <a:gridCol w="10972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Novelty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Specificity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Feasibility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Grounding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Composite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α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within-theme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—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—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—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—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—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—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bridge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—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—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—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—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—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—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method-gap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—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—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—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—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—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—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402336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Alongside the panel scores, the </a:t>
            </a:r>
            <a:pPr algn="l" indent="0" marL="0">
              <a:buNone/>
            </a:pPr>
            <a:r>
              <a:rPr lang="en-US" sz="1300" i="1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evidence_overlap</a:t>
            </a:r>
            <a:pPr algn="l" indent="0" marL="0">
              <a:buNone/>
            </a:pPr>
            <a:r>
              <a:rPr lang="en-US" sz="13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is reported deterministically — catches hallucinated citations even when the panel gives 5/5.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Contributions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2920" y="128016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</a:t>
            </a:r>
            <a:pPr indent="0" marL="0">
              <a:buNone/>
            </a:pPr>
            <a:r>
              <a:rPr lang="en-US" sz="15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reproducible gap-mining pipeline</a:t>
            </a:r>
            <a:pPr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from PDF to verbatim gap sentences, with paper-level provenance.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</a:t>
            </a:r>
            <a:pPr indent="0" marL="0">
              <a:buNone/>
            </a:pPr>
            <a:r>
              <a:rPr lang="en-US" sz="15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bridge-score</a:t>
            </a:r>
            <a:pPr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mechanism that ranks cluster pairs by similarity sweet-spot × paper diversity × type complementarity.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buNone/>
            </a:pPr>
            <a:r>
              <a:rPr lang="en-US" sz="15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Three idea-generation modes</a:t>
            </a:r>
            <a:pPr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(within-theme, bridge, method-gap) sharing one schema and an evidence-overlap audit.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</a:t>
            </a:r>
            <a:pPr indent="0" marL="0">
              <a:buNone/>
            </a:pPr>
            <a:r>
              <a:rPr lang="en-US" sz="15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multi-agent quality layer</a:t>
            </a:r>
            <a:pPr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critic with tool-derived diagnostics, revisor, and cross-provider judge panel with α.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</a:t>
            </a:r>
            <a:pPr indent="0" marL="0">
              <a:buNone/>
            </a:pPr>
            <a:r>
              <a:rPr lang="en-US" sz="15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paper drafter</a:t>
            </a:r>
            <a:pPr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that expands any saved idea into a structured LaTeX paper plan with a visible "Human work required" callout.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Limitations and future work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2920" y="1280160"/>
            <a:ext cx="8229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buNone/>
            </a:pPr>
            <a:r>
              <a:rPr lang="en-US" sz="14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Bench scale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N = 100 unarXive papers is small in absolute terms; would need to grow for publication.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buNone/>
            </a:pPr>
            <a:r>
              <a:rPr lang="en-US" sz="14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human gold standard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for idea quality — inter-judge α serves as a proxy.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Ideas can be </a:t>
            </a:r>
            <a:pPr indent="0" marL="0">
              <a:buNone/>
            </a:pPr>
            <a:r>
              <a:rPr lang="en-US" sz="14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noun-phrase novel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without being experimentally novel — LLMs are plausible without being correct.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work: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●  </a:t>
            </a:r>
            <a:pPr indent="0" marL="0">
              <a:buNone/>
            </a:pPr>
            <a:r>
              <a:rPr lang="en-US" sz="14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Structural graph bridges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(edge-betweenness) over individual gaps instead of centroid pairs.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● 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</a:t>
            </a:r>
            <a:pPr indent="0" marL="0">
              <a:buNone/>
            </a:pPr>
            <a:r>
              <a:rPr lang="en-US" sz="14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experimental sanity stage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does the method actually run on toy data?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● 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Force every idea to carry a </a:t>
            </a:r>
            <a:pPr indent="0" marL="0">
              <a:buNone/>
            </a:pPr>
            <a:r>
              <a:rPr lang="en-US" sz="14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falsifiable quantitative prediction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and a named baseline.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●  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Scale to N = 1000 with author co-citation as an additional signal.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2920" y="128016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Gap2Idea harvests the </a:t>
            </a:r>
            <a:pPr indent="0" marL="0">
              <a:buNone/>
            </a:pPr>
            <a:r>
              <a:rPr lang="en-US" sz="15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author-acknowledged</a:t>
            </a:r>
            <a:pPr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research gaps that every paper contains but no one aggregates.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turns them into </a:t>
            </a:r>
            <a:pPr indent="0" marL="0">
              <a:buNone/>
            </a:pPr>
            <a:r>
              <a:rPr lang="en-US" sz="15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evidence-grounded</a:t>
            </a:r>
            <a:pPr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research ideas in three complementary modes, with full traceability back to the verbatim source.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</a:t>
            </a:r>
            <a:pPr indent="0" marL="0">
              <a:buNone/>
            </a:pPr>
            <a:r>
              <a:rPr lang="en-US" sz="15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multi-agent quality layer</a:t>
            </a:r>
            <a:pPr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with tool-derived diagnostics and a cross-provider judge panel surfaces consistency as an interpretable signal.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Any accepted idea can be expanded into a </a:t>
            </a:r>
            <a:pPr indent="0" marL="0">
              <a:buNone/>
            </a:pPr>
            <a:r>
              <a:rPr lang="en-US" sz="15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structured paper plan</a:t>
            </a:r>
            <a:pPr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ready for human refinement.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Released as an installable Python package with a CLI, a web dashboard, and an MCP server.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you.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788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Questions?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github.com/Yazangthb/Gap2Idea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031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Appendix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Extra detail — bridge score, anti-hallucination, benchmarks, deployment.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Bridge score — factor detail</a:t>
            </a:r>
            <a:endParaRPr lang="en-US" sz="3600" dirty="0"/>
          </a:p>
        </p:txBody>
      </p:sp>
      <p:pic>
        <p:nvPicPr>
          <p:cNvPr id="3" name="Image 0" descr="C:/Users/yazan/Downloads/thesis_methodology/figs_png/bridge_sco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143000"/>
            <a:ext cx="8138160" cy="2194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3520440"/>
            <a:ext cx="8138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peak(s, p)  =  s/p   for s ≤ p,    (1 − s) / (1 − p)   otherwise.   J(A,B) is Jaccard overlap of source-paper sets;   τ(A,B) is the half-L₁ distance between gap-type distributions.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Anti-hallucination machinery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2920" y="1280160"/>
            <a:ext cx="8229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buNone/>
            </a:pPr>
            <a:r>
              <a:rPr lang="en-US" sz="13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Schema enforcement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strict JSON-schema on every LLM call; robust parser strips markdown fences for non-OpenAI providers.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buNone/>
            </a:pPr>
            <a:r>
              <a:rPr lang="en-US" sz="13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Verbatim requirement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gap_sentence and paragraph_text must come verbatim from input; items &lt; 20 chars or confidence &lt; 0.5 dropped.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buNone/>
            </a:pPr>
            <a:r>
              <a:rPr lang="en-US" sz="13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Post-hoc evidence filter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evidence_used (paper_id, gap_sentence) pairs checked against fed evidence; unknown paper_ids stripped.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buNone/>
            </a:pPr>
            <a:r>
              <a:rPr lang="en-US" sz="13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Critic novelty check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ν = 1 − max cos(idea, S2 abstracts); ν &lt; 0.4 forces revision.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buNone/>
            </a:pPr>
            <a:r>
              <a:rPr lang="en-US" sz="13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Critic overlap check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fraction of evidence_used actually fed; &lt; 0.8 forces revision.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buNone/>
            </a:pPr>
            <a:r>
              <a:rPr lang="en-US" sz="13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Paper-drafter filter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drafter prompt and post-filter both restrict citations to input evidence or retrieved prior art.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Bench methodology</a:t>
            </a:r>
            <a:endParaRPr lang="en-US" sz="3600" dirty="0"/>
          </a:p>
        </p:txBody>
      </p:sp>
      <p:pic>
        <p:nvPicPr>
          <p:cNvPr id="3" name="Image 0" descr="C:/Users/yazan/Downloads/thesis_methodology/figs_png/bench_methodolog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143000"/>
            <a:ext cx="8138160" cy="1737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3063240"/>
            <a:ext cx="8138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Gold reference: unarXive 2023's annotated Limitations / Future Work / Open Problems spans.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Stage-1: ROUGE-1, ROUGE-2, ROUGE-L F1 vs gold section text.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Stage-2: </a:t>
            </a:r>
            <a:pPr indent="0" marL="0">
              <a:buNone/>
            </a:pPr>
            <a:r>
              <a:rPr lang="en-US" sz="13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recovery rate at τ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and </a:t>
            </a:r>
            <a:pPr indent="0" marL="0">
              <a:buNone/>
            </a:pPr>
            <a:r>
              <a:rPr lang="en-US" sz="13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hallucination rate at τ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for τ ∈ {0.5, 0.6, 0.7}.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buNone/>
            </a:pPr>
            <a:r>
              <a:rPr lang="en-US" sz="13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Oracle ceiling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feed gold section straight into the LLM; bounds the Stage-2 LLM in isolation.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Recovery vs hallucination</a:t>
            </a:r>
            <a:endParaRPr lang="en-US" sz="3600" dirty="0"/>
          </a:p>
        </p:txBody>
      </p:sp>
      <p:pic>
        <p:nvPicPr>
          <p:cNvPr id="3" name="Image 0" descr="C:/Users/yazan/Downloads/thesis_methodology/figs/bench/llm_recovery_vs_hallu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143000"/>
            <a:ext cx="5120640" cy="3291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60720" y="137160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buNone/>
            </a:pPr>
            <a:r>
              <a:rPr lang="en-US" sz="12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recovery(τ)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↑ — fraction of extracted gaps matching a gold-section sentence at cosine ≥ τ.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buNone/>
            </a:pPr>
            <a:r>
              <a:rPr lang="en-US" sz="12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halluc(τ)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↓ — fraction whose max cosine vs any sentence anywhere in the paper falls below τ.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Together: confidence the LLM points at </a:t>
            </a:r>
            <a:pPr indent="0" marL="0">
              <a:buNone/>
            </a:pPr>
            <a:r>
              <a:rPr lang="en-US" sz="12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 future-work content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not inventing it.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27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Clustering stability</a:t>
            </a:r>
            <a:endParaRPr lang="en-US" sz="3600" dirty="0"/>
          </a:p>
        </p:txBody>
      </p:sp>
      <p:pic>
        <p:nvPicPr>
          <p:cNvPr id="3" name="Image 0" descr="C:/Users/yazan/Downloads/thesis_methodology/figs/clustering_bench/stability_bar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143000"/>
            <a:ext cx="5120640" cy="3291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60720" y="137160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buNone/>
            </a:pPr>
            <a:r>
              <a:rPr lang="en-US" sz="12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Bootstrap ARI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over B = 10 80%-resamples per (clusterer × encoder) cell.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ARI = 1 ⇒ same partition recovered; ARI = 0 ⇒ random.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clustering that </a:t>
            </a:r>
            <a:pPr indent="0" marL="0">
              <a:buNone/>
            </a:pPr>
            <a:r>
              <a:rPr lang="en-US" sz="12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flips between two resamples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is not a clustering — stability is the thesis-defensible axis.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Geometry vs coherence</a:t>
            </a:r>
            <a:endParaRPr lang="en-US" sz="3600" dirty="0"/>
          </a:p>
        </p:txBody>
      </p:sp>
      <p:pic>
        <p:nvPicPr>
          <p:cNvPr id="3" name="Image 0" descr="C:/Users/yazan/Downloads/thesis_methodology/figs/clustering_bench/silhouette_vs_npmi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143000"/>
            <a:ext cx="5120640" cy="3291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60720" y="137160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buNone/>
            </a:pPr>
            <a:r>
              <a:rPr lang="en-US" sz="12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Silhouette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measures embedding-space tightness vs separation.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buNone/>
            </a:pPr>
            <a:r>
              <a:rPr lang="en-US" sz="12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NPMI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measures whether top tokens co-occur — proxy for human-readable theme coherence.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downstream idea generator cares about </a:t>
            </a:r>
            <a:pPr indent="0" marL="0">
              <a:buNone/>
            </a:pPr>
            <a:r>
              <a:rPr lang="en-US" sz="12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coherence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not geometry alone.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29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Deployment surfaces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2920" y="1280160"/>
            <a:ext cx="8229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buNone/>
            </a:pPr>
            <a:r>
              <a:rPr lang="en-US" sz="14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deterministic, scriptable. select-papers · extract-text · extract-sections · extract-gaps · theme-mine · generate-ideas · evaluate-ideas · export-ideas.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buNone/>
            </a:pPr>
            <a:r>
              <a:rPr lang="en-US" sz="14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Streamlit dashboard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six tabs to browse themes, gaps, bridge pairs, ideas, judge agreement, and paper-drafter output.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buNone/>
            </a:pPr>
            <a:r>
              <a:rPr lang="en-US" sz="14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MCP server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read tools (list_themes, get_theme, get_evidence, retrieve_methods, search_prior_art, score_novelty, check_evidence_overlap, list_ideas) and one write tool (save_idea), usable from Claude Desktop or any MCP-aware client.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 LLM calls route through </a:t>
            </a:r>
            <a:pPr indent="0" marL="0">
              <a:buNone/>
            </a:pPr>
            <a:r>
              <a:rPr lang="en-US" sz="14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OpenRouter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a single-flag provider swap (OpenAI, Anthropic, Google, open-source).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Walkthrough — one idea, end-to-end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2920" y="1280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32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Template — fill from artifacts/ideas_full.jsonl when ready.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691640"/>
            <a:ext cx="8229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buNone/>
            </a:pPr>
            <a:r>
              <a:rPr lang="en-US" sz="14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Title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«…»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buNone/>
            </a:pPr>
            <a:r>
              <a:rPr lang="en-US" sz="14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question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«…»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buNone/>
            </a:pPr>
            <a:r>
              <a:rPr lang="en-US" sz="14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 sketch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«…»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buNone/>
            </a:pPr>
            <a:r>
              <a:rPr lang="en-US" sz="14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Evaluation plan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«…»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buNone/>
            </a:pPr>
            <a:r>
              <a:rPr lang="en-US" sz="14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Critic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verdict accept, ν = «…», evidence_overlap = «…», iterations = «…»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pPr indent="0" marL="0">
              <a:buNone/>
            </a:pPr>
            <a:r>
              <a:rPr lang="en-US" sz="1400" dirty="0">
                <a:solidFill>
                  <a:srgbClr val="296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Judge panel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novelty «…», specificity «…», feasibility «…», grounding «…», α = «…»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BS Thesis 2024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Gap2Idea — An Idea Mining Platform for Research Acceleration</dc:title>
  <dc:subject>PptxGenJS Presentation</dc:subject>
  <dc:creator>Yazan Alnakri</dc:creator>
  <cp:lastModifiedBy>Yazan Alnakri</cp:lastModifiedBy>
  <cp:revision>1</cp:revision>
  <dcterms:created xsi:type="dcterms:W3CDTF">2026-05-30T13:21:52Z</dcterms:created>
  <dcterms:modified xsi:type="dcterms:W3CDTF">2026-05-30T13:21:52Z</dcterms:modified>
</cp:coreProperties>
</file>